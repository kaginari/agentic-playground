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This deck explains the Isekai convention from OpenCode's perspective, since OpenCode is where Minds and Bodies are natively authored. A Claude Code compatibility appendix follows the main content.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Framing slide. The core value proposition: persistence across session boundaries, via disk, not model memory.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 ranks, shown with their official portraits from .isekai/portraits/. Rimuru is the only rank excluded from model branding — it's model-agnostic by rule ('the throne does not choose its horse').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Condensed from the Crest. Full text lives in .isekai/isekai.md — this is the memorable nine-breath 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Companion to the previous slide: one real biological phenomenon per Nature, chosen for the closest structural match, not just the name. Vitality = the G2/M checkpoint + p53-triggered apoptosis (change and record land together, or the cell is sacrificed — the convention's 'stale slime' verdict). Symbiosis = lichen (and, for the 'merge' verdict, endosymbiosis: mitochondria were once free-living bacteria). Evolution = CRISPR-Cas: the mistake literally mutates the genome, and the spacer is inherited by every daughter cell. Genesis = quorum sensing, e.g. Vibrio fischeri lighting up only at high density in the bobtail squid's light organ — 'one naming is an observation, two is a pattern'. Memory = hippocampal-neocortical consolidation; working memory itself holds only ~4 chunks (Cowan), the convention's '~5 thoughts'. Swarm = Dictyostelium discoideum — a slime that forms a colony only on observed convergence, apt for a convention whose ground-truth creatures are Slimes. Containment = the blood-brain barrier, a barrier that is structure rather than policy. The Wire = von Frisch's waggle dance: 'point, don't carry' and 'fix the schema' in one behaviour. Perception = proprioception; Ian Waterman's deafferentation case is the 'silent instrument is itself a finding' example. Icons are Font Awesome glyphs built locally (make_icons.js), not photos — Nature 7 forbids fetching from the network without the human's agreement.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.isekai/ skeleton. Same shape whether founded from OpenCode or Claude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OpenCode is where both are natively authored — .opencode/ is the source-of-truth format the canon assumes.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/isekai and /genesis run identically in OpenCode and Claude Code. /don and /mint only make sense from the Claude Code side, since .opencode/ is already the native format.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Instruments are perception, not memory — what the world can check about itself right now, versus what a document claims. The bottom row is field-tested, not illustrative: OpenCode was actually installed and run on the machine this deck was built on, the 842M figure is the real, corrected total after fixing a Claude Code input-token undercount, and the 3 bugs (Claude cache-token undercount, a silent node:sqlite failure, and an OpenCode cache-token undercount) were each caught by an actual deterministic test script (.isekai/tools/test-opencode-integration.js), not by inspection.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Rimuru is deliberately excluded — the throne's mount is the human's choice, never hardcoded. Tuned by what each task actually demands, not by rank prestige: narrow scope (Slime) is not the same as low judgment, since a Slime authors real changes — retuned from Haiku to Sonnet 5 default accordingly. Ciel was the only office with no Opus escalation path at all; added one for heavy-synthesis pieces (a session report weaving many threads), kept separate from the Fable axis (voice-consistency specifically). This table is reference guidance today, not yet wired into /mint's actual minting flow.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pitch slide. Four advantages, each tied to a Nature: Memory, The gate, Perception, and cross-ecosystem Minds &amp; Bodies.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full sequence, grounded in a real fix from this session rather than a hypothetical. Context flows down (Rimuru -&gt; Elf -&gt; Orc -&gt; Slime); the gate (Orc + Raphael) is what stands between a Slime's change and it landing. Ciel's journaling step runs on Sonnet 5, its own floor -- the deterministic-script principle still applies, but only to inputs mechanical enough to bypass the Ciel office entirely (a raw field append with no prose); the moment Ciel itself is actually dispatched, its tier never drops below Raphael's, per the canon's own Great Sage -&gt; Raphael -&gt; Ciel evolutionary ordering.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Direct answer to: can a Slime escalate past its own ceiling? Yes -- Absolute Rule III, named 'Confirmation and Escalation'. Verified this section is actually present and correctly readable by testing it live: asked a free, non-Claude OpenCode model (nemotron-3.5-lightning-free) to read isekai.md's Rule III cold and explain the escalation chain -- it correctly answered 'asks its immediate parent, never skipping a rank' without prompting, confirming the doc itself is the mechanism, not something Claude-specific.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Real, honest empirical test -- logged in .isekai/log.md 2026-09-20. Deliberately keeps the negative/mixed finding (cost went up, not down) rather than only reporting the correctness win, per this convention's own Nature 9 (Perception: compute it, don't eyeball it) and Nature 3 (Evolution: a finding that complicates the pitch still gets recorded, not filtered out).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Appendix, distinctly styled (slate background) to mark it as supplementary to the OpenCode-perspective main deck. The advantage: adopting Isekai isn't a bet on one ecosystem.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slide. Quote lifted directly from isekai.md's own opening.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1051560"/>
            <a:ext cx="12188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⋄</a:t>
            </a:r>
            <a:endParaRPr lang="en-US" sz="4600" dirty="0"/>
          </a:p>
        </p:txBody>
      </p:sp>
      <p:sp>
        <p:nvSpPr>
          <p:cNvPr id="3" name="Text 1"/>
          <p:cNvSpPr txBox="1"/>
          <p:nvPr/>
        </p:nvSpPr>
        <p:spPr>
          <a:xfrm>
            <a:off x="0" y="2148840"/>
            <a:ext cx="12188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spc="600" kern="0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ISEKAI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1463040" y="3429000"/>
            <a:ext cx="9262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Reincarnating a Directory as a Living, Self-Documenting Multi-Agent World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591556" y="4160520"/>
            <a:ext cx="1005840" cy="0"/>
          </a:xfrm>
          <a:prstGeom prst="line">
            <a:avLst/>
          </a:prstGeom>
          <a:noFill/>
          <a:ln w="19050">
            <a:solidFill>
              <a:srgbClr val="BD8C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434340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BD8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CROSS-HARNESS CONVENTION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0" y="617220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convention-jura  · 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sessions forget everything. Isekai doesn't.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4206240" cy="3566160"/>
          </a:xfrm>
          <a:prstGeom prst="rect">
            <a:avLst>
              <a:gd name="adj" fmla="val 3077"/>
            </a:avLst>
          </a:prstGeom>
          <a:solidFill>
            <a:srgbClr val="12182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965960"/>
            <a:ext cx="4206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0" b="1" dirty="0">
                <a:solidFill>
                  <a:srgbClr val="BD8C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9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56616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carried into the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session, by default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212080" y="1828800"/>
            <a:ext cx="633679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 coding session starts cold.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re-derives the codebase's shape, re-learns who owns what, and re-discovers the same gotchas the last session already found — because nothing survived the session boundary.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answers this with disk, not memory: a directory that adopts the convention gets a </a:t>
            </a:r>
            <a:pPr indent="0" marL="0">
              <a:buNone/>
            </a:pPr>
            <a:r>
              <a:rPr lang="en-US" sz="1400" b="1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.isekai/</a:t>
            </a:r>
            <a:pPr indent="0" marL="0">
              <a:buNone/>
            </a:pPr>
            <a:r>
              <a:rPr lang="en-US" sz="14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folder holding the world's law, its change log, and the creatures that work in it — so the next session picks up exactly where the last one left off, by reading what's on disk instead of guessing.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Intelligence, distributed across four ranks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8308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B2333">
                <a:alpha val="12000"/>
              </a:srgbClr>
            </a:outerShdw>
          </a:effectLst>
        </p:spPr>
      </p:sp>
      <p:pic>
        <p:nvPicPr>
          <p:cNvPr id="4" name="Image 0" descr="/home/monta/convention-jura/.isekai/tmp/pptx-build/icons/portraits/rimur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2167128"/>
            <a:ext cx="960120" cy="960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057400" y="2057400"/>
            <a:ext cx="36255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Rimuru — the session agent</a:t>
            </a:r>
            <a:endParaRPr lang="en-US" sz="1450" dirty="0"/>
          </a:p>
        </p:txBody>
      </p:sp>
      <p:sp>
        <p:nvSpPr>
          <p:cNvPr id="6" name="Text 3"/>
          <p:cNvSpPr txBox="1"/>
          <p:nvPr/>
        </p:nvSpPr>
        <p:spPr>
          <a:xfrm>
            <a:off x="2057400" y="2441448"/>
            <a:ext cx="36255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Thinks, decides, orders. A machine-global throne body: one agent, installed once per machine, ruling whichever world it stands in. Works through the Elf by default.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323076" y="178308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B2333">
                <a:alpha val="12000"/>
              </a:srgbClr>
            </a:outerShdw>
          </a:effectLst>
        </p:spPr>
      </p:sp>
      <p:pic>
        <p:nvPicPr>
          <p:cNvPr id="8" name="Image 1" descr="/home/monta/convention-jura/.isekai/tmp/pptx-build/icons/portraits/el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9108" y="2167128"/>
            <a:ext cx="960120" cy="9601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40396" y="2057400"/>
            <a:ext cx="36255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Elf — the shared mind &amp; voice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7740396" y="2441448"/>
            <a:ext cx="36255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Thinks across domains, routes work to Orcs, and is the one who speaks back up to the human. Every world gets at least one.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640080" y="374904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B2333">
                <a:alpha val="12000"/>
              </a:srgbClr>
            </a:outerShdw>
          </a:effectLst>
        </p:spPr>
      </p:sp>
      <p:pic>
        <p:nvPicPr>
          <p:cNvPr id="12" name="Image 2" descr="/home/monta/convention-jura/.isekai/tmp/pptx-build/icons/portraits/or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4133088"/>
            <a:ext cx="960120" cy="9601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057400" y="4023360"/>
            <a:ext cx="36255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 — the domain ruler</a:t>
            </a:r>
            <a:endParaRPr lang="en-US" sz="1450" dirty="0"/>
          </a:p>
        </p:txBody>
      </p:sp>
      <p:sp>
        <p:nvSpPr>
          <p:cNvPr id="14" name="Text 9"/>
          <p:cNvSpPr txBox="1"/>
          <p:nvPr/>
        </p:nvSpPr>
        <p:spPr>
          <a:xfrm>
            <a:off x="2057400" y="4407408"/>
            <a:ext cx="36255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one domain and holds the gate: verifies the right Slime authored, traits hold, duties done, doc truthful. Nothing lands without its pass.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6323076" y="374904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B2333">
                <a:alpha val="12000"/>
              </a:srgbClr>
            </a:outerShdw>
          </a:effectLst>
        </p:spPr>
      </p:sp>
      <p:pic>
        <p:nvPicPr>
          <p:cNvPr id="16" name="Image 3" descr="/home/monta/convention-jura/.isekai/tmp/pptx-build/icons/portraits/sli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9108" y="4133088"/>
            <a:ext cx="960120" cy="9601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740396" y="4023360"/>
            <a:ext cx="36255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Slime — the ground truth</a:t>
            </a:r>
            <a:endParaRPr lang="en-US" sz="1450" dirty="0"/>
          </a:p>
        </p:txBody>
      </p:sp>
      <p:sp>
        <p:nvSpPr>
          <p:cNvPr id="18" name="Text 12"/>
          <p:cNvSpPr txBox="1"/>
          <p:nvPr/>
        </p:nvSpPr>
        <p:spPr>
          <a:xfrm>
            <a:off x="7740396" y="4407408"/>
            <a:ext cx="36255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narrow zone, held deeply. Authors changes there directly — its doc is the one fact anyone trusts about that zone.</a:t>
            </a:r>
            <a:endParaRPr lang="en-US" sz="1050" dirty="0"/>
          </a:p>
        </p:txBody>
      </p:sp>
      <p:sp>
        <p:nvSpPr>
          <p:cNvPr id="19" name="Text 1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20" name="Text 14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Natures — the crest, read first, always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874520"/>
            <a:ext cx="384048" cy="384048"/>
          </a:xfrm>
          <a:prstGeom prst="ellipse">
            <a:avLst/>
          </a:prstGeom>
          <a:solidFill>
            <a:srgbClr val="2695B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828800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Vitality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313432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and doc change together, or the doc dies.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67784" y="1691640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0664" y="1874520"/>
            <a:ext cx="384048" cy="384048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50664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053584" y="1828800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Symbiosis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68952" y="2313432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race does exactly its role — no duplication.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95488" y="1691640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78368" y="1874520"/>
            <a:ext cx="384048" cy="384048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78368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781288" y="1828800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Evolution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96656" y="2313432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mistake mutates the genome, at once.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" y="3264408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3447288"/>
            <a:ext cx="384048" cy="384048"/>
          </a:xfrm>
          <a:prstGeom prst="ellipse">
            <a:avLst/>
          </a:prstGeom>
          <a:solidFill>
            <a:srgbClr val="2695B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3447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3401568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Genesis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41248" y="3886200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born silently — a need is named twice.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367784" y="3264408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50664" y="3447288"/>
            <a:ext cx="384048" cy="384048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550664" y="3447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053584" y="3401568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Memory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568952" y="3886200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Thoughts are kept to ~5, distilled, let go.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095488" y="3264408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78368" y="3447288"/>
            <a:ext cx="384048" cy="384048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78368" y="3447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781288" y="3401568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Swarm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8296656" y="3886200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Colonies emerge from observed convergence.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4837176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2960" y="5020056"/>
            <a:ext cx="384048" cy="384048"/>
          </a:xfrm>
          <a:prstGeom prst="ellipse">
            <a:avLst/>
          </a:prstGeom>
          <a:solidFill>
            <a:srgbClr val="2695BD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22960" y="5020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1325880" y="4974336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Containment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841248" y="5458968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Territory flows inward; nothing leaves without consent.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367784" y="4837176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50664" y="5020056"/>
            <a:ext cx="384048" cy="384048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550664" y="5020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5053584" y="4974336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Wire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4568952" y="5458968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terse channel between machines; humans get courtesy.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8095488" y="4837176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278368" y="5020056"/>
            <a:ext cx="384048" cy="384048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8278368" y="5020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8781288" y="4974336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Perception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8296656" y="5458968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world watches itself — instruments stay lit.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49" name="Text 47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Natures — as nature already does them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07008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law is borrowed from a real phenomenon. The convention didn't invent these rules; biology did.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0080" y="1627632"/>
            <a:ext cx="3453384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pic>
        <p:nvPicPr>
          <p:cNvPr id="5" name="Image 0" descr="/home/monta/convention-jura/.isekai/tmp/pptx-build/icons/natures/01-vitality-dna-checkpo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773936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99032" y="1737360"/>
            <a:ext cx="2538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Vitality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399032" y="1938528"/>
            <a:ext cx="2538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DNA checkpoints &amp; apoptosis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04672" y="2322576"/>
            <a:ext cx="3124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cell never divides before its genome is fully copied and repaired; a copy that can't be repaired triggers apoptosis — the cell removes itself rather than pass on a stale record.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4367784" y="1627632"/>
            <a:ext cx="3453384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pic>
        <p:nvPicPr>
          <p:cNvPr id="10" name="Image 1" descr="/home/monta/convention-jura/.isekai/tmp/pptx-build/icons/natures/02-symbiosis-lich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2376" y="1773936"/>
            <a:ext cx="457200" cy="457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126736" y="1737360"/>
            <a:ext cx="2538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Symbiosis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5126736" y="1938528"/>
            <a:ext cx="2538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Lichen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32376" y="2322576"/>
            <a:ext cx="3124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fungus builds the body, holds water and mines minerals; an alga or cyanobacterium photosynthesizes and feeds both. Neither does the other's job, and together they live on bare rock.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8095488" y="1627632"/>
            <a:ext cx="3453384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pic>
        <p:nvPicPr>
          <p:cNvPr id="15" name="Image 2" descr="/home/monta/convention-jura/.isekai/tmp/pptx-build/icons/natures/03-evolution-crisp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0080" y="1773936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854440" y="1737360"/>
            <a:ext cx="2538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Evolution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8854440" y="1938528"/>
            <a:ext cx="2538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CRISPR–Cas immunity in bacteria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260080" y="2322576"/>
            <a:ext cx="3124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bacterium that survives a phage stores a snippet of the invader's DNA in its own genome — at once. The next time that phage comes, Cas proteins cut it. The same mistake never repeats.</a:t>
            </a:r>
            <a:endParaRPr lang="en-US" sz="850" dirty="0"/>
          </a:p>
        </p:txBody>
      </p:sp>
      <p:sp>
        <p:nvSpPr>
          <p:cNvPr id="19" name="Shape 14"/>
          <p:cNvSpPr/>
          <p:nvPr/>
        </p:nvSpPr>
        <p:spPr>
          <a:xfrm>
            <a:off x="640080" y="3200400"/>
            <a:ext cx="3453384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pic>
        <p:nvPicPr>
          <p:cNvPr id="20" name="Image 3" descr="/home/monta/convention-jura/.isekai/tmp/pptx-build/icons/natures/04-genesis-quorum-sens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3346704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99032" y="3310128"/>
            <a:ext cx="2538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Genesis</a:t>
            </a:r>
            <a:endParaRPr lang="en-US" sz="900" dirty="0"/>
          </a:p>
        </p:txBody>
      </p:sp>
      <p:sp>
        <p:nvSpPr>
          <p:cNvPr id="22" name="Text 16"/>
          <p:cNvSpPr txBox="1"/>
          <p:nvPr/>
        </p:nvSpPr>
        <p:spPr>
          <a:xfrm>
            <a:off x="1399032" y="3511296"/>
            <a:ext cx="2538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Quorum sensing (Vibrio fischeri)</a:t>
            </a:r>
            <a:endParaRPr lang="en-US" sz="1250" dirty="0"/>
          </a:p>
        </p:txBody>
      </p:sp>
      <p:sp>
        <p:nvSpPr>
          <p:cNvPr id="23" name="Text 17"/>
          <p:cNvSpPr txBox="1"/>
          <p:nvPr/>
        </p:nvSpPr>
        <p:spPr>
          <a:xfrm>
            <a:off x="804672" y="3895344"/>
            <a:ext cx="3124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cell secretes a signal molecule; one cell's is noise. Only when the signal crosses a threshold — many cells naming the same need — does the colony switch on bioluminescence.</a:t>
            </a:r>
            <a:endParaRPr lang="en-US" sz="850" dirty="0"/>
          </a:p>
        </p:txBody>
      </p:sp>
      <p:sp>
        <p:nvSpPr>
          <p:cNvPr id="24" name="Shape 18"/>
          <p:cNvSpPr/>
          <p:nvPr/>
        </p:nvSpPr>
        <p:spPr>
          <a:xfrm>
            <a:off x="4367784" y="3200400"/>
            <a:ext cx="3453384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pic>
        <p:nvPicPr>
          <p:cNvPr id="25" name="Image 4" descr="/home/monta/convention-jura/.isekai/tmp/pptx-build/icons/natures/05-memory-sleep-consolidatio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2376" y="3346704"/>
            <a:ext cx="457200" cy="45720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126736" y="3310128"/>
            <a:ext cx="2538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Memory</a:t>
            </a:r>
            <a:endParaRPr lang="en-US" sz="900" dirty="0"/>
          </a:p>
        </p:txBody>
      </p:sp>
      <p:sp>
        <p:nvSpPr>
          <p:cNvPr id="27" name="Text 20"/>
          <p:cNvSpPr txBox="1"/>
          <p:nvPr/>
        </p:nvSpPr>
        <p:spPr>
          <a:xfrm>
            <a:off x="5126736" y="3511296"/>
            <a:ext cx="2538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Sleep-dependent consolidation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4532376" y="3895344"/>
            <a:ext cx="3124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hippocampus holds the day in a small buffer, replays it to the neocortex during slow-wave sleep, which distils it into durable schemas, then clears the buffer. Analysis up, wisdom down.</a:t>
            </a:r>
            <a:endParaRPr lang="en-US" sz="850" dirty="0"/>
          </a:p>
        </p:txBody>
      </p:sp>
      <p:sp>
        <p:nvSpPr>
          <p:cNvPr id="29" name="Shape 22"/>
          <p:cNvSpPr/>
          <p:nvPr/>
        </p:nvSpPr>
        <p:spPr>
          <a:xfrm>
            <a:off x="8095488" y="3200400"/>
            <a:ext cx="3453384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pic>
        <p:nvPicPr>
          <p:cNvPr id="30" name="Image 5" descr="/home/monta/convention-jura/.isekai/tmp/pptx-build/icons/natures/06-swarm-slime-mol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60080" y="3346704"/>
            <a:ext cx="457200" cy="45720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854440" y="3310128"/>
            <a:ext cx="2538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Swarm</a:t>
            </a:r>
            <a:endParaRPr lang="en-US" sz="900" dirty="0"/>
          </a:p>
        </p:txBody>
      </p:sp>
      <p:sp>
        <p:nvSpPr>
          <p:cNvPr id="32" name="Text 24"/>
          <p:cNvSpPr txBox="1"/>
          <p:nvPr/>
        </p:nvSpPr>
        <p:spPr>
          <a:xfrm>
            <a:off x="8854440" y="3511296"/>
            <a:ext cx="2538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Dictyostelium slime mold</a:t>
            </a:r>
            <a:endParaRPr lang="en-US" sz="1250" dirty="0"/>
          </a:p>
        </p:txBody>
      </p:sp>
      <p:sp>
        <p:nvSpPr>
          <p:cNvPr id="33" name="Text 25"/>
          <p:cNvSpPr txBox="1"/>
          <p:nvPr/>
        </p:nvSpPr>
        <p:spPr>
          <a:xfrm>
            <a:off x="8260080" y="3895344"/>
            <a:ext cx="3124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Solitary amoebae live alone while food lasts. When it runs out they pulse cAMP, converge into one migrating slug, fruit, and disperse. Nobody declares the colony; it emerges and dissolves.</a:t>
            </a:r>
            <a:endParaRPr lang="en-US" sz="850" dirty="0"/>
          </a:p>
        </p:txBody>
      </p:sp>
      <p:sp>
        <p:nvSpPr>
          <p:cNvPr id="34" name="Shape 26"/>
          <p:cNvSpPr/>
          <p:nvPr/>
        </p:nvSpPr>
        <p:spPr>
          <a:xfrm>
            <a:off x="640080" y="4773168"/>
            <a:ext cx="3453384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pic>
        <p:nvPicPr>
          <p:cNvPr id="35" name="Image 6" descr="/home/monta/convention-jura/.isekai/tmp/pptx-build/icons/natures/07-containment-blood-brain-barrie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" y="4919472"/>
            <a:ext cx="457200" cy="45720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1399032" y="4882896"/>
            <a:ext cx="2538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Containment</a:t>
            </a:r>
            <a:endParaRPr lang="en-US" sz="900" dirty="0"/>
          </a:p>
        </p:txBody>
      </p:sp>
      <p:sp>
        <p:nvSpPr>
          <p:cNvPr id="37" name="Text 28"/>
          <p:cNvSpPr txBox="1"/>
          <p:nvPr/>
        </p:nvSpPr>
        <p:spPr>
          <a:xfrm>
            <a:off x="1399032" y="5084064"/>
            <a:ext cx="2538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blood–brain barrier</a:t>
            </a:r>
            <a:endParaRPr lang="en-US" sz="1250" dirty="0"/>
          </a:p>
        </p:txBody>
      </p:sp>
      <p:sp>
        <p:nvSpPr>
          <p:cNvPr id="38" name="Text 29"/>
          <p:cNvSpPr txBox="1"/>
          <p:nvPr/>
        </p:nvSpPr>
        <p:spPr>
          <a:xfrm>
            <a:off x="804672" y="5468112"/>
            <a:ext cx="3124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Tight junctions seal the brain's capillaries: nothing crosses by default. What the brain needs passes only through specific gated transporters. Consent is the tissue's shape, not a checklist.</a:t>
            </a:r>
            <a:endParaRPr lang="en-US" sz="850" dirty="0"/>
          </a:p>
        </p:txBody>
      </p:sp>
      <p:sp>
        <p:nvSpPr>
          <p:cNvPr id="39" name="Shape 30"/>
          <p:cNvSpPr/>
          <p:nvPr/>
        </p:nvSpPr>
        <p:spPr>
          <a:xfrm>
            <a:off x="4367784" y="4773168"/>
            <a:ext cx="3453384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pic>
        <p:nvPicPr>
          <p:cNvPr id="40" name="Image 7" descr="/home/monta/convention-jura/.isekai/tmp/pptx-build/icons/natures/08-the-wire-waggle-danc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32376" y="4919472"/>
            <a:ext cx="457200" cy="457200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5126736" y="4882896"/>
            <a:ext cx="2538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· The Wire</a:t>
            </a:r>
            <a:endParaRPr lang="en-US" sz="900" dirty="0"/>
          </a:p>
        </p:txBody>
      </p:sp>
      <p:sp>
        <p:nvSpPr>
          <p:cNvPr id="42" name="Text 32"/>
          <p:cNvSpPr txBox="1"/>
          <p:nvPr/>
        </p:nvSpPr>
        <p:spPr>
          <a:xfrm>
            <a:off x="5126736" y="5084064"/>
            <a:ext cx="2538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honeybee waggle dance</a:t>
            </a:r>
            <a:endParaRPr lang="en-US" sz="1250" dirty="0"/>
          </a:p>
        </p:txBody>
      </p:sp>
      <p:sp>
        <p:nvSpPr>
          <p:cNvPr id="43" name="Text 33"/>
          <p:cNvSpPr txBox="1"/>
          <p:nvPr/>
        </p:nvSpPr>
        <p:spPr>
          <a:xfrm>
            <a:off x="4532376" y="5468112"/>
            <a:ext cx="3124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forager doesn't carry the field home — she points to it in a fixed schema: run angle = direction from the sun, run duration = distance. Known field order, so the field names disappear.</a:t>
            </a:r>
            <a:endParaRPr lang="en-US" sz="850" dirty="0"/>
          </a:p>
        </p:txBody>
      </p:sp>
      <p:sp>
        <p:nvSpPr>
          <p:cNvPr id="44" name="Shape 34"/>
          <p:cNvSpPr/>
          <p:nvPr/>
        </p:nvSpPr>
        <p:spPr>
          <a:xfrm>
            <a:off x="8095488" y="4773168"/>
            <a:ext cx="3453384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pic>
        <p:nvPicPr>
          <p:cNvPr id="45" name="Image 8" descr="/home/monta/convention-jura/.isekai/tmp/pptx-build/icons/natures/09-perception-proprioceptio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60080" y="4919472"/>
            <a:ext cx="457200" cy="457200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8854440" y="4882896"/>
            <a:ext cx="2538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· Perception</a:t>
            </a:r>
            <a:endParaRPr lang="en-US" sz="900" dirty="0"/>
          </a:p>
        </p:txBody>
      </p:sp>
      <p:sp>
        <p:nvSpPr>
          <p:cNvPr id="47" name="Text 36"/>
          <p:cNvSpPr txBox="1"/>
          <p:nvPr/>
        </p:nvSpPr>
        <p:spPr>
          <a:xfrm>
            <a:off x="8854440" y="5084064"/>
            <a:ext cx="2538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Proprioception</a:t>
            </a:r>
            <a:endParaRPr lang="en-US" sz="1250" dirty="0"/>
          </a:p>
        </p:txBody>
      </p:sp>
      <p:sp>
        <p:nvSpPr>
          <p:cNvPr id="48" name="Text 37"/>
          <p:cNvSpPr txBox="1"/>
          <p:nvPr/>
        </p:nvSpPr>
        <p:spPr>
          <a:xfrm>
            <a:off x="8260080" y="5468112"/>
            <a:ext cx="3124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Muscle spindles and tendon organs measure the body's own stretch and tension continuously; position is read, never guessed. When that instrument goes silent, every move must be checked by eye.</a:t>
            </a:r>
            <a:endParaRPr lang="en-US" sz="850" dirty="0"/>
          </a:p>
        </p:txBody>
      </p:sp>
      <p:sp>
        <p:nvSpPr>
          <p:cNvPr id="49" name="Text 38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50" name="Text 39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reincarnated world has the same shape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37360"/>
            <a:ext cx="5212080" cy="4023360"/>
          </a:xfrm>
          <a:prstGeom prst="roundRect">
            <a:avLst>
              <a:gd name="adj" fmla="val 2273"/>
            </a:avLst>
          </a:prstGeom>
          <a:solidFill>
            <a:srgbClr val="12182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2011680"/>
            <a:ext cx="46634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.isekai/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isekai.md      the law every creature reads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log.md         append-only change chronicle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portraits/     one image per race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instruments/   the world watching itself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elf/orc/slime/ creatures live here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tmp/           the proving grounds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6217920" y="1828800"/>
            <a:ext cx="5330952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9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isekai.md</a:t>
            </a:r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Nine Natures, Principles, Laws, and the gate. Every creature reads it before working; it changes only on the human's order.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7C5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log.md</a:t>
            </a:r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entry per change: task, files, gate verdict, result, what should be remembered. Never edited, only appended to.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founds it: </a:t>
            </a:r>
            <a:pPr indent="0" marL="0">
              <a:buNone/>
            </a:pPr>
            <a:r>
              <a:rPr lang="en-US" sz="1300" b="1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/isekai</a:t>
            </a:r>
            <a:pPr indent="0" marL="0">
              <a:buNone/>
            </a:pPr>
            <a:r>
              <a:rPr lang="en-US" sz="13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and on a fresh reincarnation, it survey-populates the world in the same pass.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Minds &amp; Bodies — how creatures exist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83080"/>
            <a:ext cx="5225796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pic>
        <p:nvPicPr>
          <p:cNvPr id="4" name="Image 0" descr="/home/monta/convention-jura/.isekai/tmp/pptx-build/icons/lightbul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057400"/>
            <a:ext cx="914400" cy="914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965960" y="2194560"/>
            <a:ext cx="38541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Minds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3017520"/>
            <a:ext cx="4677156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Reusable, stateless know-how. No memory of its own, does no work alone — a creature dons it for one task, then moves on.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home: </a:t>
            </a:r>
            <a:pPr indent="0" marL="0">
              <a:buNone/>
            </a:pPr>
            <a:r>
              <a:rPr lang="en-US" sz="1150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.opencode/skills/&lt;name&gt;/SKILL.md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323076" y="1783080"/>
            <a:ext cx="5225796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pic>
        <p:nvPicPr>
          <p:cNvPr id="8" name="Image 1" descr="/home/monta/convention-jura/.isekai/tmp/pptx-build/icons/rob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7396" y="2057400"/>
            <a:ext cx="914400" cy="9144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648956" y="2194560"/>
            <a:ext cx="38541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Bodies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6597396" y="3017520"/>
            <a:ext cx="4677156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vessel that actually runs and holds context. Never minted generic — born already named for the rank it serves: orc-security, slime-auth-zone.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home: </a:t>
            </a:r>
            <a:pPr indent="0" marL="0">
              <a:buNone/>
            </a:pPr>
            <a:r>
              <a:rPr lang="en-US" sz="1150" dirty="0">
                <a:solidFill>
                  <a:srgbClr val="7C5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.opencode/agents/*.md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commands, native to OpenCode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8308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984248"/>
            <a:ext cx="46771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/isekai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496312"/>
            <a:ext cx="46771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Reincarnates a directory: writes the law, the chronicle, the portraits — then, on a fresh founding, survey-populates it in the same pass.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323076" y="178308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97396" y="1984248"/>
            <a:ext cx="46771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C5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/genesis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7396" y="2496312"/>
            <a:ext cx="46771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Scans the code and decides, itself, which Elves, Orcs and Slimes it needs, then births them. Offer-first, never silent.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374904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3950208"/>
            <a:ext cx="46771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/don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4462272"/>
            <a:ext cx="46771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Brings a Mind across from another ecosystem's skill format into this one — a bridge, not a native OpenCode need.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323076" y="374904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97396" y="3950208"/>
            <a:ext cx="46771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A6B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/mint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6597396" y="4462272"/>
            <a:ext cx="46771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Brings a Body across the same way — names it on the way in, never mints one unnamed.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Nature 9 — the world watches itself</a:t>
            </a:r>
            <a:endParaRPr lang="en-US" sz="3000" dirty="0"/>
          </a:p>
        </p:txBody>
      </p:sp>
      <p:pic>
        <p:nvPicPr>
          <p:cNvPr id="3" name="Image 0" descr="/home/monta/convention-jura/.isekai/tmp/pptx-build/icons/ey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2834640"/>
            <a:ext cx="3636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00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3794760"/>
            <a:ext cx="30876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for the whole machine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276344" y="2834640"/>
            <a:ext cx="3636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D8C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∞</a:t>
            </a:r>
            <a:endParaRPr lang="en-US" sz="6000" dirty="0"/>
          </a:p>
        </p:txBody>
      </p:sp>
      <p:sp>
        <p:nvSpPr>
          <p:cNvPr id="7" name="Text 4"/>
          <p:cNvSpPr txBox="1"/>
          <p:nvPr/>
        </p:nvSpPr>
        <p:spPr>
          <a:xfrm>
            <a:off x="4550664" y="3794760"/>
            <a:ext cx="30876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worlds, each at its own /name/ sub-path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912608" y="2834640"/>
            <a:ext cx="3636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7C5C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000" dirty="0"/>
          </a:p>
        </p:txBody>
      </p:sp>
      <p:sp>
        <p:nvSpPr>
          <p:cNvPr id="9" name="Text 6"/>
          <p:cNvSpPr txBox="1"/>
          <p:nvPr/>
        </p:nvSpPr>
        <p:spPr>
          <a:xfrm>
            <a:off x="8186928" y="3794760"/>
            <a:ext cx="30876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dashboard, live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463040" y="4709160"/>
            <a:ext cx="9262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tempest.js — a zero-dependency instrument board. Reads every registered world fresh, per request, and reads real session usage from both OpenCode's own store and Claude Code's transcripts — nothing cached, nothing guessed.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2194560" y="5532120"/>
            <a:ext cx="7799832" cy="0"/>
          </a:xfrm>
          <a:prstGeom prst="line">
            <a:avLst/>
          </a:prstGeom>
          <a:noFill/>
          <a:ln w="12700">
            <a:solidFill>
              <a:srgbClr val="1A243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" y="5669280"/>
            <a:ext cx="3636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1.18.31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6053328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OpenCode installed + run live here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276344" y="5669280"/>
            <a:ext cx="3636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D8C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842M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4504944" y="6053328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input tokens correctly counted (was 0.0M — undercount found by testing)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7912608" y="5669280"/>
            <a:ext cx="3636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5C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8141208" y="6053328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bugs found and fixed by an actual test script, not assumed away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throne, several mounts — model per rank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0879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377440"/>
                <a:gridCol w="5696712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Rank / office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Suggested 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Great Sage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Haiku 4.5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Bulk retrieval, terse facts — no judgment, no writes.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Raphael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reasoning for a verdict — Opus for high-stakes domains.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 · Opus 5 · Fable 5.1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prose; Opus for heavy synthesis; Fable when voice is the point.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 · Opus 5 · Fable 5.1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Coordination default; Opus for conflict; Fable for the outward voice itself.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Reasoning-critical gate work — Opus for high-stakes domains.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Authors real changes — narrow scope, not low judgment. Haiku only for mechanical zones.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Ascended ranks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 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Cross-session judgment over an archive, or the last systemic check — task-driven, not just rarity.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run a codebase this way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2695B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737360"/>
            <a:ext cx="10177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Memory survives the session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2130552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session reads what the last one wrote — no re-deriving the same facts twice.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880360"/>
            <a:ext cx="457200" cy="457200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2788920"/>
            <a:ext cx="10177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lands without a gate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3182112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Orc verifies the right Slime authored it, traits hold, the doc is truthful — before it counts as done.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931920"/>
            <a:ext cx="457200" cy="457200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3840480"/>
            <a:ext cx="10177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Observability is built in, not bolted on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4233672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instrument board, live, across every world on the machine — not a dashboard you have to remember to check.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4983480"/>
            <a:ext cx="457200" cy="457200"/>
          </a:xfrm>
          <a:prstGeom prst="ellipse">
            <a:avLst/>
          </a:prstGeom>
          <a:solidFill>
            <a:srgbClr val="8A6BD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4892040"/>
            <a:ext cx="10177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Harness-agnostic by design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5285232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Minds and Bodies cross from OpenCode into Claude Code and back — one convention, any coding harness, not a plugin bound to one vendor.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fix, start to finish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4300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hypothetical — this is how </a:t>
            </a:r>
            <a:pPr indent="0" marL="0">
              <a:buNone/>
            </a:pPr>
            <a:r>
              <a:rPr lang="en-US" sz="1150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slime-db-role</a:t>
            </a:r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 </a:t>
            </a:r>
            <a:pPr indent="0" marL="0">
              <a:buNone/>
            </a:pPr>
            <a:r>
              <a:rPr lang="en-US" sz="1150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path — a raw collection delete where every sibling used the proper </a:t>
            </a:r>
            <a:pPr indent="0" marL="0">
              <a:buNone/>
            </a:pPr>
            <a:r>
              <a:rPr lang="en-US" sz="1150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dropRole</a:t>
            </a:r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command — actually got fixed, found by </a:t>
            </a:r>
            <a:pPr indent="0" marL="0">
              <a:buNone/>
            </a:pPr>
            <a:r>
              <a:rPr lang="en-US" sz="1150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/genesis --depth deep</a:t>
            </a:r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 git archaeology.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822960" y="2240280"/>
            <a:ext cx="0" cy="260604"/>
          </a:xfrm>
          <a:prstGeom prst="line">
            <a:avLst/>
          </a:prstGeom>
          <a:noFill/>
          <a:ln w="19050">
            <a:solidFill>
              <a:srgbClr val="D7DE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874520"/>
            <a:ext cx="365760" cy="365760"/>
          </a:xfrm>
          <a:prstGeom prst="ellipse">
            <a:avLst/>
          </a:prstGeom>
          <a:solidFill>
            <a:srgbClr val="3A425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819656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Rimuru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606040" y="1810512"/>
            <a:ext cx="8942832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scope with the human, routes the fix down.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822960" y="2866644"/>
            <a:ext cx="0" cy="260604"/>
          </a:xfrm>
          <a:prstGeom prst="line">
            <a:avLst/>
          </a:prstGeom>
          <a:noFill/>
          <a:ln w="19050">
            <a:solidFill>
              <a:srgbClr val="D7DEE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500884"/>
            <a:ext cx="365760" cy="365760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5008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244602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Elf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606040" y="2436876"/>
            <a:ext cx="8942832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domain, nothing to arbitrate — routes straight to the Orc.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822960" y="3493008"/>
            <a:ext cx="0" cy="260604"/>
          </a:xfrm>
          <a:prstGeom prst="line">
            <a:avLst/>
          </a:prstGeom>
          <a:noFill/>
          <a:ln w="19050">
            <a:solidFill>
              <a:srgbClr val="D7DEE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127248"/>
            <a:ext cx="365760" cy="365760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127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072384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2606040" y="3063240"/>
            <a:ext cx="8942832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Dispatches Great Sage for recon (read-wide, terse facts: every raw-delete / dropRole site), then the owning Slime.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822960" y="4119372"/>
            <a:ext cx="0" cy="260604"/>
          </a:xfrm>
          <a:prstGeom prst="line">
            <a:avLst/>
          </a:prstGeom>
          <a:noFill/>
          <a:ln w="19050">
            <a:solidFill>
              <a:srgbClr val="D7DEE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753612"/>
            <a:ext cx="365760" cy="365760"/>
          </a:xfrm>
          <a:prstGeom prst="ellipse">
            <a:avLst/>
          </a:prstGeom>
          <a:solidFill>
            <a:srgbClr val="2695B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37536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698748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Slime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2606040" y="3689604"/>
            <a:ext cx="8942832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its own territory, mirrors dropRole the way Delete and the sibling resource already do — updates its own doc's Traits in the same change.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822960" y="4745736"/>
            <a:ext cx="0" cy="260604"/>
          </a:xfrm>
          <a:prstGeom prst="line">
            <a:avLst/>
          </a:prstGeom>
          <a:noFill/>
          <a:ln w="19050">
            <a:solidFill>
              <a:srgbClr val="D7DEE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379976"/>
            <a:ext cx="365760" cy="365760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0080" y="43799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32511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2606040" y="4315968"/>
            <a:ext cx="8942832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Dispatches Raphael for the gate verdict: file:line evidence, right Slime authored, traits hold, doc truthful.</a:t>
            </a:r>
            <a:endParaRPr lang="en-US" sz="1080" dirty="0"/>
          </a:p>
        </p:txBody>
      </p:sp>
      <p:sp>
        <p:nvSpPr>
          <p:cNvPr id="29" name="Shape 27"/>
          <p:cNvSpPr/>
          <p:nvPr/>
        </p:nvSpPr>
        <p:spPr>
          <a:xfrm>
            <a:off x="822960" y="5372100"/>
            <a:ext cx="0" cy="260604"/>
          </a:xfrm>
          <a:prstGeom prst="line">
            <a:avLst/>
          </a:prstGeom>
          <a:noFill/>
          <a:ln w="19050">
            <a:solidFill>
              <a:srgbClr val="D7DEE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" y="5006340"/>
            <a:ext cx="365760" cy="365760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0080" y="50063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1234440" y="4951476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2606040" y="4942332"/>
            <a:ext cx="8942832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Raphael PASSes with evidence — lands the change, records the verdict.</a:t>
            </a:r>
            <a:endParaRPr lang="en-US" sz="1080" dirty="0"/>
          </a:p>
        </p:txBody>
      </p:sp>
      <p:sp>
        <p:nvSpPr>
          <p:cNvPr id="34" name="Shape 32"/>
          <p:cNvSpPr/>
          <p:nvPr/>
        </p:nvSpPr>
        <p:spPr>
          <a:xfrm>
            <a:off x="640080" y="5632704"/>
            <a:ext cx="365760" cy="365760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40080" y="56327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1234440" y="557784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Ciel + Elf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2606040" y="5568696"/>
            <a:ext cx="8942832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Ciel journals it in log.md — Sonnet 5, its own floor: turning facts into house-format prose is voice work, never below Raphael's tier. Elf reports back to the human, one line, full courtesy.</a:t>
            </a:r>
            <a:endParaRPr lang="en-US" sz="1080" dirty="0"/>
          </a:p>
        </p:txBody>
      </p:sp>
      <p:sp>
        <p:nvSpPr>
          <p:cNvPr id="38" name="Text 36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a rank hits its ceiling: escalate, never guess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4300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 Rule III — </a:t>
            </a:r>
            <a:pPr indent="0" marL="0">
              <a:buNone/>
            </a:pPr>
            <a:r>
              <a:rPr lang="en-US" sz="1150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Confirmation and Escalation</a:t>
            </a:r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Escalation moves by rank, one hop at a time — never skipping a level, never a handoff of the work itself, and it never guesses past confusion.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832104" y="2304288"/>
            <a:ext cx="0" cy="393192"/>
          </a:xfrm>
          <a:prstGeom prst="line">
            <a:avLst/>
          </a:prstGeom>
          <a:noFill/>
          <a:ln w="19050">
            <a:solidFill>
              <a:srgbClr val="D7DE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920240"/>
            <a:ext cx="384048" cy="384048"/>
          </a:xfrm>
          <a:prstGeom prst="ellipse">
            <a:avLst/>
          </a:prstGeom>
          <a:solidFill>
            <a:srgbClr val="2695B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86537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Slime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017520" y="1847088"/>
            <a:ext cx="8531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Hits something it can't resolve at its own level: a request it can't parse, a doc that contradicts the code, an instrument reading it can't explain. Asks its immediate parent — never further up, never sideways.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832104" y="3081528"/>
            <a:ext cx="0" cy="393192"/>
          </a:xfrm>
          <a:prstGeom prst="line">
            <a:avLst/>
          </a:prstGeom>
          <a:noFill/>
          <a:ln w="19050">
            <a:solidFill>
              <a:srgbClr val="D7DEE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697480"/>
            <a:ext cx="384048" cy="384048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264261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017520" y="2624328"/>
            <a:ext cx="8531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Orc is also stuck, it escalates again in turn — the same question, one hop further, not a rewrite of the problem.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32104" y="3858768"/>
            <a:ext cx="0" cy="393192"/>
          </a:xfrm>
          <a:prstGeom prst="line">
            <a:avLst/>
          </a:prstGeom>
          <a:noFill/>
          <a:ln w="19050">
            <a:solidFill>
              <a:srgbClr val="D7DEE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474720"/>
            <a:ext cx="384048" cy="384048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341985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Elf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017520" y="3401568"/>
            <a:ext cx="8531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Genuine cross-domain judgment lands here — per the model table, this is where Elf steps up to Opus 5 for real arbitration, not routine coordination.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32104" y="4636008"/>
            <a:ext cx="0" cy="393192"/>
          </a:xfrm>
          <a:prstGeom prst="line">
            <a:avLst/>
          </a:prstGeom>
          <a:noFill/>
          <a:ln w="19050">
            <a:solidFill>
              <a:srgbClr val="D7DEE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4251960"/>
            <a:ext cx="384048" cy="384048"/>
          </a:xfrm>
          <a:prstGeom prst="ellipse">
            <a:avLst/>
          </a:prstGeom>
          <a:solidFill>
            <a:srgbClr val="3A425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419709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Rimuru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3017520" y="4178808"/>
            <a:ext cx="8531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even the Elf can't resolve it, Rimuru is asked to bring it to Veldora directly — the one siphon that never narrows, in full human courtesy.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5029200"/>
            <a:ext cx="384048" cy="384048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0080" y="5029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280160" y="497433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Veldora (the human)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3017520" y="4956048"/>
            <a:ext cx="8531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or clarifies. Rimuru carries the resolved answer back down the same chain it came up.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5870448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</a:t>
            </a:r>
            <a:pPr indent="0" marL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escalation is about rank, not model — Fable 5.1 is only the Elf/Ciel office's voice-drafting model choice (model table), not an escalation step of its own.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it actually help? We measured it.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isolated Claude Code sessions (Sonnet 5) fixed the same real, documented bug in terraform-provider-mongodb -- 3 with .isekai/ present, 3 with it stripped entirely. Not a pitch: a controlled comparison, graded against objective pass/fail criteria.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3331464" cy="2880360"/>
          </a:xfrm>
          <a:prstGeom prst="roundRect">
            <a:avLst>
              <a:gd name="adj" fmla="val 3175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B2333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2377440"/>
            <a:ext cx="2874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/ 3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017520"/>
            <a:ext cx="2874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adopted the codebase's own canonical fix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611880"/>
            <a:ext cx="28742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0/3 without -- which all settled for a narrower, incomplete patch despite the correct pattern sitting 20 lines away in the same file.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428744" y="2148840"/>
            <a:ext cx="3331464" cy="2880360"/>
          </a:xfrm>
          <a:prstGeom prst="roundRect">
            <a:avLst>
              <a:gd name="adj" fmla="val 3175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B2333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657344" y="2377440"/>
            <a:ext cx="2874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D8C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~3x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4657344" y="3017520"/>
            <a:ext cx="2874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higher cost, not lower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657344" y="3611880"/>
            <a:ext cx="28742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$0.49 avg vs $0.17 avg per trial. The overhead is real: turns spent reading world docs, some irrelevant to the specific task.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217408" y="2148840"/>
            <a:ext cx="3331464" cy="2880360"/>
          </a:xfrm>
          <a:prstGeom prst="roundRect">
            <a:avLst>
              <a:gd name="adj" fmla="val 3175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B2333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446008" y="2377440"/>
            <a:ext cx="2874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C5C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3.35x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8446008" y="3017520"/>
            <a:ext cx="2874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gap held across a 2nd chained task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446008" y="3611880"/>
            <a:ext cx="28742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 a second real task in the same sessions (claude -c). Caching cut everyone's marginal cost vs. a cold start -- but the with/without ratio didn't shrink.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25780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Verdict: </a:t>
            </a:r>
            <a:pPr indent="0" marL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decisions, not cheaper ones -- at least not within one small session on an 862-line codebase. The savings case this convention actually makes (skipping expensive cold exploration) needs a larger codebase or separate sessions over time to show up; this test doesn't have either, and says so.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71F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D8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note on Claude Code compatibility</a:t>
            </a:r>
            <a:endParaRPr lang="en-US" sz="3000" dirty="0"/>
          </a:p>
        </p:txBody>
      </p:sp>
      <p:pic>
        <p:nvPicPr>
          <p:cNvPr id="4" name="Image 0" descr="/home/monta/convention-jura/.isekai/tmp/pptx-build/icons/l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83080"/>
            <a:ext cx="1188720" cy="1188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148840" y="1828800"/>
            <a:ext cx="93543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was not designed OpenCode-only — </a:t>
            </a:r>
            <a:pPr indent="0" marL="0">
              <a:buNone/>
            </a:pPr>
            <a:r>
              <a:rPr lang="en-US" sz="1400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isekai.md</a:t>
            </a:r>
            <a:pPr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itself already treats </a:t>
            </a:r>
            <a:pPr indent="0" marL="0">
              <a:buNone/>
            </a:pPr>
            <a:r>
              <a:rPr lang="en-US" sz="1400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.opencode/</a:t>
            </a:r>
            <a:pPr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buNone/>
            </a:pPr>
            <a:r>
              <a:rPr lang="en-US" sz="1400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.claude/</a:t>
            </a:r>
            <a:pPr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two coexisting homes for the same Minds and Bodies.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246120"/>
            <a:ext cx="52257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/don and /mint bridge the gap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630168"/>
            <a:ext cx="52257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Claude-Code-only commands that port a Mind or Body from .opencode/ into .claude/skills/ or .claude/agents/ — a straight copy, since both ecosystems speak the same open Agent Skills format.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323076" y="3246120"/>
            <a:ext cx="52257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/isekai and /genesis run identically in both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6323076" y="3630168"/>
            <a:ext cx="52257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world document, same population logic, either side — a world founded from OpenCode looks no different from one founded in Claude Code.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4846320"/>
            <a:ext cx="52257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working proof, not just a claim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5230368"/>
            <a:ext cx="52257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palette-audit, a Mind built during this convention's own development, ships byte-identical in both .opencode/skills/ and .claude/skills/ right now.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6323076" y="4846320"/>
            <a:ext cx="52257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tempest.js reads both ecosystems' usage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6323076" y="5230368"/>
            <a:ext cx="52257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instrument board reports real session activity from OpenCode's own store and Claude Code's own transcripts, side by side, on the same dashboard.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monta/convention-jura/.isekai/tmp/pptx-build/icons/rock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45836" y="1051560"/>
            <a:ext cx="1097280" cy="10972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0" y="2514600"/>
            <a:ext cx="12188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Reincarnate any directory. One command.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0" y="3063240"/>
            <a:ext cx="121889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/isekai</a:t>
            </a:r>
            <a:endParaRPr lang="en-US" sz="5600" dirty="0"/>
          </a:p>
        </p:txBody>
      </p:sp>
      <p:sp>
        <p:nvSpPr>
          <p:cNvPr id="5" name="Text 2"/>
          <p:cNvSpPr txBox="1"/>
          <p:nvPr/>
        </p:nvSpPr>
        <p:spPr>
          <a:xfrm>
            <a:off x="1645920" y="4297680"/>
            <a:ext cx="88971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world remembers in documents, because sessions forget.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watches itself through instruments, because memory alone cannot see stress.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2026-09-20T23:09:15Z</dcterms:created>
  <dcterms:modified xsi:type="dcterms:W3CDTF">2026-09-20T23:09:15Z</dcterms:modified>
</cp:coreProperties>
</file>